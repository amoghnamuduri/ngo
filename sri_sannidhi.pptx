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sldIdLst>
    <p:sldId id="256" r:id="rId2"/>
    <p:sldId id="267" r:id="rId3"/>
    <p:sldId id="268" r:id="rId4"/>
    <p:sldId id="266" r:id="rId5"/>
    <p:sldId id="257" r:id="rId6"/>
    <p:sldId id="258" r:id="rId7"/>
    <p:sldId id="259" r:id="rId8"/>
    <p:sldId id="260" r:id="rId9"/>
    <p:sldId id="261" r:id="rId10"/>
    <p:sldId id="278" r:id="rId11"/>
    <p:sldId id="262" r:id="rId12"/>
    <p:sldId id="263" r:id="rId13"/>
    <p:sldId id="264" r:id="rId14"/>
    <p:sldId id="265" r:id="rId15"/>
    <p:sldId id="269" r:id="rId16"/>
    <p:sldId id="270" r:id="rId17"/>
    <p:sldId id="271" r:id="rId18"/>
    <p:sldId id="273" r:id="rId19"/>
    <p:sldId id="272" r:id="rId20"/>
    <p:sldId id="274" r:id="rId21"/>
    <p:sldId id="276" r:id="rId22"/>
    <p:sldId id="277"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8" d="100"/>
          <a:sy n="48" d="100"/>
        </p:scale>
        <p:origin x="62"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9289B2-7D9B-4BDA-9A31-9FC7B31145F0}"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918435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9289B2-7D9B-4BDA-9A31-9FC7B31145F0}"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2434399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F9289B2-7D9B-4BDA-9A31-9FC7B31145F0}"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1724991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9289B2-7D9B-4BDA-9A31-9FC7B31145F0}"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1361917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9289B2-7D9B-4BDA-9A31-9FC7B31145F0}" type="datetimeFigureOut">
              <a:rPr lang="en-IN" smtClean="0"/>
              <a:t>26-11-2025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4276647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9289B2-7D9B-4BDA-9A31-9FC7B31145F0}" type="datetimeFigureOut">
              <a:rPr lang="en-IN" smtClean="0"/>
              <a:t>26-11-2025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1570217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9289B2-7D9B-4BDA-9A31-9FC7B31145F0}" type="datetimeFigureOut">
              <a:rPr lang="en-IN" smtClean="0"/>
              <a:t>26-11-2025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1914701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F9289B2-7D9B-4BDA-9A31-9FC7B31145F0}"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2709707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F9289B2-7D9B-4BDA-9A31-9FC7B31145F0}"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1428680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F9289B2-7D9B-4BDA-9A31-9FC7B31145F0}"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2044537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F9289B2-7D9B-4BDA-9A31-9FC7B31145F0}"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A1A795-F61F-470F-8867-B549C7C9885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0901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F9289B2-7D9B-4BDA-9A31-9FC7B31145F0}"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39511967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F9289B2-7D9B-4BDA-9A31-9FC7B31145F0}"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A1A795-F61F-470F-8867-B549C7C9885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989619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F9289B2-7D9B-4BDA-9A31-9FC7B31145F0}"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10429598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9289B2-7D9B-4BDA-9A31-9FC7B31145F0}"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716871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9289B2-7D9B-4BDA-9A31-9FC7B31145F0}"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A1A795-F61F-470F-8867-B549C7C98852}" type="slidenum">
              <a:rPr lang="en-IN" smtClean="0"/>
              <a:t>‹#›</a:t>
            </a:fld>
            <a:endParaRPr lang="en-IN"/>
          </a:p>
        </p:txBody>
      </p:sp>
    </p:spTree>
    <p:extLst>
      <p:ext uri="{BB962C8B-B14F-4D97-AF65-F5344CB8AC3E}">
        <p14:creationId xmlns:p14="http://schemas.microsoft.com/office/powerpoint/2010/main" val="1893585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F9289B2-7D9B-4BDA-9A31-9FC7B31145F0}" type="datetimeFigureOut">
              <a:rPr lang="en-IN" smtClean="0"/>
              <a:t>26-11-2025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90A1A795-F61F-470F-8867-B549C7C98852}" type="slidenum">
              <a:rPr lang="en-IN" smtClean="0"/>
              <a:t>‹#›</a:t>
            </a:fld>
            <a:endParaRPr lang="en-IN"/>
          </a:p>
        </p:txBody>
      </p:sp>
    </p:spTree>
    <p:extLst>
      <p:ext uri="{BB962C8B-B14F-4D97-AF65-F5344CB8AC3E}">
        <p14:creationId xmlns:p14="http://schemas.microsoft.com/office/powerpoint/2010/main" val="13394789"/>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mailto:srisannidhi7@gmail.com"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3206" y="309490"/>
            <a:ext cx="6064347" cy="6064347"/>
          </a:xfrm>
          <a:prstGeom prst="rect">
            <a:avLst/>
          </a:prstGeom>
        </p:spPr>
      </p:pic>
    </p:spTree>
    <p:extLst>
      <p:ext uri="{BB962C8B-B14F-4D97-AF65-F5344CB8AC3E}">
        <p14:creationId xmlns:p14="http://schemas.microsoft.com/office/powerpoint/2010/main" val="4207673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7" name="TextBox 6"/>
          <p:cNvSpPr txBox="1"/>
          <p:nvPr/>
        </p:nvSpPr>
        <p:spPr>
          <a:xfrm>
            <a:off x="982728" y="633944"/>
            <a:ext cx="7168495" cy="4524315"/>
          </a:xfrm>
          <a:prstGeom prst="rect">
            <a:avLst/>
          </a:prstGeom>
          <a:noFill/>
        </p:spPr>
        <p:txBody>
          <a:bodyPr wrap="square" rtlCol="0">
            <a:spAutoFit/>
          </a:bodyPr>
          <a:lstStyle/>
          <a:p>
            <a:pPr algn="just"/>
            <a:r>
              <a:rPr lang="en-IN" sz="3600" b="1" dirty="0"/>
              <a:t>Story behind  </a:t>
            </a:r>
          </a:p>
          <a:p>
            <a:pPr algn="just"/>
            <a:endParaRPr lang="en-IN" sz="3600" dirty="0"/>
          </a:p>
          <a:p>
            <a:pPr algn="just"/>
            <a:r>
              <a:rPr lang="en-IN" sz="3600" b="1" dirty="0"/>
              <a:t>Sri </a:t>
            </a:r>
            <a:r>
              <a:rPr lang="en-IN" sz="3600" b="1" dirty="0" err="1"/>
              <a:t>Sannidhi</a:t>
            </a:r>
            <a:r>
              <a:rPr lang="en-IN" sz="3600" b="1" dirty="0"/>
              <a:t> Foundation </a:t>
            </a:r>
          </a:p>
          <a:p>
            <a:pPr algn="just"/>
            <a:endParaRPr lang="en-US" sz="3600" b="1" dirty="0"/>
          </a:p>
          <a:p>
            <a:pPr algn="just"/>
            <a:r>
              <a:rPr lang="en-US" sz="3600" b="1" dirty="0"/>
              <a:t>We are not different from you , we are just a step ahead trying to help the needy in form of a registered organization </a:t>
            </a:r>
            <a:endParaRPr lang="en-IN" sz="3600" b="1" dirty="0"/>
          </a:p>
        </p:txBody>
      </p:sp>
    </p:spTree>
    <p:extLst>
      <p:ext uri="{BB962C8B-B14F-4D97-AF65-F5344CB8AC3E}">
        <p14:creationId xmlns:p14="http://schemas.microsoft.com/office/powerpoint/2010/main" val="3540532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7" name="TextBox 6"/>
          <p:cNvSpPr txBox="1"/>
          <p:nvPr/>
        </p:nvSpPr>
        <p:spPr>
          <a:xfrm>
            <a:off x="982728" y="633944"/>
            <a:ext cx="7168495" cy="6186309"/>
          </a:xfrm>
          <a:prstGeom prst="rect">
            <a:avLst/>
          </a:prstGeom>
          <a:noFill/>
        </p:spPr>
        <p:txBody>
          <a:bodyPr wrap="square" rtlCol="0">
            <a:spAutoFit/>
          </a:bodyPr>
          <a:lstStyle/>
          <a:p>
            <a:pPr algn="just"/>
            <a:r>
              <a:rPr lang="en-IN" sz="3600" b="1" dirty="0"/>
              <a:t>Story behind </a:t>
            </a:r>
          </a:p>
          <a:p>
            <a:pPr algn="just"/>
            <a:endParaRPr lang="en-IN" sz="3600" dirty="0"/>
          </a:p>
          <a:p>
            <a:pPr algn="just"/>
            <a:r>
              <a:rPr lang="en-IN" sz="3600" b="1" dirty="0"/>
              <a:t>Sri </a:t>
            </a:r>
            <a:r>
              <a:rPr lang="en-IN" sz="3600" b="1" dirty="0" err="1"/>
              <a:t>Sannidhi</a:t>
            </a:r>
            <a:r>
              <a:rPr lang="en-IN" sz="3600" b="1" dirty="0"/>
              <a:t> Foundation </a:t>
            </a:r>
          </a:p>
          <a:p>
            <a:pPr algn="just"/>
            <a:endParaRPr lang="en-IN" sz="3600" b="1" dirty="0"/>
          </a:p>
          <a:p>
            <a:pPr algn="just"/>
            <a:r>
              <a:rPr lang="en-US" sz="3600" b="1" dirty="0"/>
              <a:t>After doing various charitable activities for around 15 years , like minded friends have come together to form this organization,</a:t>
            </a:r>
            <a:r>
              <a:rPr lang="en-IN" sz="3600" b="1" dirty="0"/>
              <a:t> Sri </a:t>
            </a:r>
            <a:r>
              <a:rPr lang="en-IN" sz="3600" b="1" dirty="0" err="1"/>
              <a:t>Sannidhi</a:t>
            </a:r>
            <a:r>
              <a:rPr lang="en-IN" sz="3600" b="1" dirty="0"/>
              <a:t> Foundation ,</a:t>
            </a:r>
            <a:r>
              <a:rPr lang="en-US" sz="3600" b="1" dirty="0"/>
              <a:t>(NGO - non government organization ) </a:t>
            </a:r>
            <a:endParaRPr lang="en-IN" sz="3600" b="1" dirty="0"/>
          </a:p>
        </p:txBody>
      </p:sp>
    </p:spTree>
    <p:extLst>
      <p:ext uri="{BB962C8B-B14F-4D97-AF65-F5344CB8AC3E}">
        <p14:creationId xmlns:p14="http://schemas.microsoft.com/office/powerpoint/2010/main" val="3053792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982728" y="633944"/>
            <a:ext cx="6920301" cy="5078313"/>
          </a:xfrm>
          <a:prstGeom prst="rect">
            <a:avLst/>
          </a:prstGeom>
          <a:noFill/>
        </p:spPr>
        <p:txBody>
          <a:bodyPr wrap="square" rtlCol="0">
            <a:spAutoFit/>
          </a:bodyPr>
          <a:lstStyle/>
          <a:p>
            <a:pPr algn="just"/>
            <a:r>
              <a:rPr lang="en-IN" sz="3600" b="1" dirty="0"/>
              <a:t>About us:</a:t>
            </a:r>
            <a:r>
              <a:rPr lang="en-IN" sz="3600" dirty="0"/>
              <a:t>  </a:t>
            </a:r>
          </a:p>
          <a:p>
            <a:pPr algn="just"/>
            <a:endParaRPr lang="en-IN" sz="3600" b="1" dirty="0"/>
          </a:p>
          <a:p>
            <a:pPr algn="just"/>
            <a:r>
              <a:rPr lang="en-IN" sz="3600" b="1" dirty="0"/>
              <a:t>Sri </a:t>
            </a:r>
            <a:r>
              <a:rPr lang="en-IN" sz="3600" b="1" dirty="0" err="1"/>
              <a:t>Sannidhi</a:t>
            </a:r>
            <a:r>
              <a:rPr lang="en-IN" sz="3600" b="1" dirty="0"/>
              <a:t> Foundation </a:t>
            </a:r>
          </a:p>
          <a:p>
            <a:pPr algn="just"/>
            <a:r>
              <a:rPr lang="en-IN" sz="3600" dirty="0"/>
              <a:t>is a non-profit charitable trust, registered according to the Provision of </a:t>
            </a:r>
            <a:r>
              <a:rPr lang="en-IN" sz="3600" dirty="0" err="1"/>
              <a:t>Maharastra</a:t>
            </a:r>
            <a:r>
              <a:rPr lang="en-IN" sz="3600" dirty="0"/>
              <a:t> Public trust Act,1950, the income tax 1961, and Indian Trust act 1882.</a:t>
            </a:r>
          </a:p>
          <a:p>
            <a:pPr algn="just"/>
            <a:endParaRPr lang="en-IN" sz="3600" dirty="0"/>
          </a:p>
        </p:txBody>
      </p:sp>
    </p:spTree>
    <p:extLst>
      <p:ext uri="{BB962C8B-B14F-4D97-AF65-F5344CB8AC3E}">
        <p14:creationId xmlns:p14="http://schemas.microsoft.com/office/powerpoint/2010/main" val="3531340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773722" y="508949"/>
            <a:ext cx="7484013" cy="7017306"/>
          </a:xfrm>
          <a:prstGeom prst="rect">
            <a:avLst/>
          </a:prstGeom>
          <a:noFill/>
        </p:spPr>
        <p:txBody>
          <a:bodyPr wrap="square" rtlCol="0">
            <a:spAutoFit/>
          </a:bodyPr>
          <a:lstStyle/>
          <a:p>
            <a:r>
              <a:rPr lang="en-IN" sz="3000" b="1" dirty="0"/>
              <a:t>Aims and Objectives of the Trust :</a:t>
            </a:r>
          </a:p>
          <a:p>
            <a:endParaRPr lang="en-IN" sz="3000" b="1" dirty="0"/>
          </a:p>
          <a:p>
            <a:r>
              <a:rPr lang="en-IN" sz="3000" b="1" dirty="0"/>
              <a:t> </a:t>
            </a:r>
            <a:r>
              <a:rPr lang="en-IN" sz="3000" dirty="0"/>
              <a:t>Sri </a:t>
            </a:r>
            <a:r>
              <a:rPr lang="en-IN" sz="3000" dirty="0" err="1"/>
              <a:t>Sannidhi</a:t>
            </a:r>
            <a:r>
              <a:rPr lang="en-IN" sz="3000" dirty="0"/>
              <a:t> Foundation is an organization benefitting underprivileged children </a:t>
            </a:r>
          </a:p>
          <a:p>
            <a:r>
              <a:rPr lang="en-IN" sz="3000" dirty="0"/>
              <a:t>and their families through </a:t>
            </a:r>
          </a:p>
          <a:p>
            <a:r>
              <a:rPr lang="en-IN" sz="3000" dirty="0"/>
              <a:t>various projects on healthcare, education, nutrition, shelter, livelihood, women empowerment, child protection, and other social issues. </a:t>
            </a:r>
          </a:p>
          <a:p>
            <a:r>
              <a:rPr lang="en-IN" sz="3000" dirty="0"/>
              <a:t>However, our primary focus would be extending a helping hand for sponsoring educational expenses of underprivileged children.</a:t>
            </a:r>
          </a:p>
          <a:p>
            <a:endParaRPr lang="en-IN" sz="3000" dirty="0"/>
          </a:p>
          <a:p>
            <a:endParaRPr lang="en-IN" sz="3000" dirty="0"/>
          </a:p>
        </p:txBody>
      </p:sp>
    </p:spTree>
    <p:extLst>
      <p:ext uri="{BB962C8B-B14F-4D97-AF65-F5344CB8AC3E}">
        <p14:creationId xmlns:p14="http://schemas.microsoft.com/office/powerpoint/2010/main" val="1437842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815925" y="860641"/>
            <a:ext cx="8454684" cy="4493538"/>
          </a:xfrm>
          <a:prstGeom prst="rect">
            <a:avLst/>
          </a:prstGeom>
          <a:noFill/>
        </p:spPr>
        <p:txBody>
          <a:bodyPr wrap="square" rtlCol="0">
            <a:spAutoFit/>
          </a:bodyPr>
          <a:lstStyle/>
          <a:p>
            <a:r>
              <a:rPr lang="en-IN" sz="3200" b="1" dirty="0"/>
              <a:t>People behind Sri </a:t>
            </a:r>
            <a:r>
              <a:rPr lang="en-IN" sz="3200" b="1" dirty="0" err="1"/>
              <a:t>Sannidhi</a:t>
            </a:r>
            <a:r>
              <a:rPr lang="en-IN" sz="3200" b="1" dirty="0"/>
              <a:t> Foundation : </a:t>
            </a:r>
          </a:p>
          <a:p>
            <a:endParaRPr lang="en-IN" sz="3200" dirty="0"/>
          </a:p>
          <a:p>
            <a:pPr marL="514350" indent="-514350">
              <a:buFont typeface="+mj-lt"/>
              <a:buAutoNum type="arabicPeriod"/>
            </a:pPr>
            <a:r>
              <a:rPr lang="en-IN" sz="2800" dirty="0" err="1"/>
              <a:t>Sujana</a:t>
            </a:r>
            <a:r>
              <a:rPr lang="en-IN" sz="2800" dirty="0"/>
              <a:t> </a:t>
            </a:r>
            <a:r>
              <a:rPr lang="en-IN" sz="2800" dirty="0" err="1"/>
              <a:t>Namuduri</a:t>
            </a:r>
            <a:r>
              <a:rPr lang="en-IN" sz="2800" dirty="0"/>
              <a:t> –Chief Trustee, Mumbai </a:t>
            </a:r>
          </a:p>
          <a:p>
            <a:pPr marL="514350" indent="-514350">
              <a:buFont typeface="+mj-lt"/>
              <a:buAutoNum type="arabicPeriod"/>
            </a:pPr>
            <a:r>
              <a:rPr lang="en-IN" sz="2800" dirty="0" err="1"/>
              <a:t>Subramanyam</a:t>
            </a:r>
            <a:r>
              <a:rPr lang="en-IN" sz="2800" dirty="0"/>
              <a:t> </a:t>
            </a:r>
            <a:r>
              <a:rPr lang="en-IN" sz="2800" dirty="0" err="1"/>
              <a:t>Venkata</a:t>
            </a:r>
            <a:r>
              <a:rPr lang="en-IN" sz="2800" dirty="0"/>
              <a:t> </a:t>
            </a:r>
            <a:r>
              <a:rPr lang="en-IN" sz="2800" dirty="0" err="1"/>
              <a:t>Namuduri</a:t>
            </a:r>
            <a:r>
              <a:rPr lang="en-IN" sz="2800" dirty="0"/>
              <a:t> – Trustee , Mumbai </a:t>
            </a:r>
          </a:p>
          <a:p>
            <a:pPr marL="514350" indent="-514350">
              <a:buFont typeface="+mj-lt"/>
              <a:buAutoNum type="arabicPeriod"/>
            </a:pPr>
            <a:r>
              <a:rPr lang="en-IN" sz="2800" dirty="0" err="1"/>
              <a:t>Uday</a:t>
            </a:r>
            <a:r>
              <a:rPr lang="en-IN" sz="2800" dirty="0"/>
              <a:t> Kumar </a:t>
            </a:r>
            <a:r>
              <a:rPr lang="en-IN" sz="2800" dirty="0" err="1"/>
              <a:t>Bommisetty</a:t>
            </a:r>
            <a:r>
              <a:rPr lang="en-IN" sz="2800" dirty="0"/>
              <a:t> – IT employee, USA </a:t>
            </a:r>
          </a:p>
          <a:p>
            <a:pPr marL="514350" indent="-514350">
              <a:buFont typeface="+mj-lt"/>
              <a:buAutoNum type="arabicPeriod"/>
            </a:pPr>
            <a:r>
              <a:rPr lang="en-IN" sz="2800" dirty="0" err="1"/>
              <a:t>Eluru</a:t>
            </a:r>
            <a:r>
              <a:rPr lang="en-IN" sz="2800" dirty="0"/>
              <a:t> Krishna Mohan – Trustee, Bengaluru </a:t>
            </a:r>
          </a:p>
          <a:p>
            <a:pPr marL="514350" indent="-514350">
              <a:buFont typeface="+mj-lt"/>
              <a:buAutoNum type="arabicPeriod"/>
            </a:pPr>
            <a:r>
              <a:rPr lang="en-IN" sz="2800" dirty="0" err="1"/>
              <a:t>Makam</a:t>
            </a:r>
            <a:r>
              <a:rPr lang="en-IN" sz="2800" dirty="0"/>
              <a:t> </a:t>
            </a:r>
            <a:r>
              <a:rPr lang="en-IN" sz="2800" dirty="0" err="1"/>
              <a:t>Harika</a:t>
            </a:r>
            <a:r>
              <a:rPr lang="en-IN" sz="2800" dirty="0"/>
              <a:t> – Trustee , Bengaluru </a:t>
            </a:r>
            <a:endParaRPr lang="en-IN" sz="4800" dirty="0"/>
          </a:p>
          <a:p>
            <a:endParaRPr lang="en-IN" sz="5400" dirty="0"/>
          </a:p>
        </p:txBody>
      </p:sp>
    </p:spTree>
    <p:extLst>
      <p:ext uri="{BB962C8B-B14F-4D97-AF65-F5344CB8AC3E}">
        <p14:creationId xmlns:p14="http://schemas.microsoft.com/office/powerpoint/2010/main" val="2478936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801858" y="621491"/>
            <a:ext cx="8454684" cy="5847755"/>
          </a:xfrm>
          <a:prstGeom prst="rect">
            <a:avLst/>
          </a:prstGeom>
          <a:noFill/>
        </p:spPr>
        <p:txBody>
          <a:bodyPr wrap="square" rtlCol="0">
            <a:spAutoFit/>
          </a:bodyPr>
          <a:lstStyle/>
          <a:p>
            <a:r>
              <a:rPr lang="en-IN" sz="3200" b="1" dirty="0"/>
              <a:t>Modus operandi </a:t>
            </a:r>
          </a:p>
          <a:p>
            <a:endParaRPr lang="en-IN" sz="3200" dirty="0"/>
          </a:p>
          <a:p>
            <a:r>
              <a:rPr lang="en-IN" sz="3200" b="1" dirty="0"/>
              <a:t>A little about what we do: </a:t>
            </a:r>
          </a:p>
          <a:p>
            <a:endParaRPr lang="en-IN" sz="3200" dirty="0"/>
          </a:p>
          <a:p>
            <a:r>
              <a:rPr lang="en-IN" sz="3200" dirty="0"/>
              <a:t>When someone approaches us, requesting for some financial help, we collect the basic information like academic excellence, mark sheets, we do our background checks about the authenticity. And then go ahead and sponsor the child within our limits.  </a:t>
            </a:r>
          </a:p>
          <a:p>
            <a:endParaRPr lang="en-IN" sz="5400" dirty="0"/>
          </a:p>
        </p:txBody>
      </p:sp>
    </p:spTree>
    <p:extLst>
      <p:ext uri="{BB962C8B-B14F-4D97-AF65-F5344CB8AC3E}">
        <p14:creationId xmlns:p14="http://schemas.microsoft.com/office/powerpoint/2010/main" val="121345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675249" y="705897"/>
            <a:ext cx="8454684" cy="6001643"/>
          </a:xfrm>
          <a:prstGeom prst="rect">
            <a:avLst/>
          </a:prstGeom>
          <a:noFill/>
        </p:spPr>
        <p:txBody>
          <a:bodyPr wrap="square" rtlCol="0">
            <a:spAutoFit/>
          </a:bodyPr>
          <a:lstStyle/>
          <a:p>
            <a:r>
              <a:rPr lang="en-IN" sz="3600" b="1" dirty="0"/>
              <a:t>How do we pay the fee for students?</a:t>
            </a:r>
          </a:p>
          <a:p>
            <a:endParaRPr lang="en-IN" sz="3600" dirty="0"/>
          </a:p>
          <a:p>
            <a:r>
              <a:rPr lang="en-IN" sz="3600" dirty="0"/>
              <a:t>We pay the fee directly to the educational institutes, schools and colleges, we never pay any fee in cash to anyone. And receipts of the fees paid is taken from the educational institutes and the same can be shared with the donators if requested. </a:t>
            </a:r>
          </a:p>
          <a:p>
            <a:endParaRPr lang="en-IN" sz="6000" dirty="0"/>
          </a:p>
        </p:txBody>
      </p:sp>
    </p:spTree>
    <p:extLst>
      <p:ext uri="{BB962C8B-B14F-4D97-AF65-F5344CB8AC3E}">
        <p14:creationId xmlns:p14="http://schemas.microsoft.com/office/powerpoint/2010/main" val="1713660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675249" y="705897"/>
            <a:ext cx="8454684" cy="7663636"/>
          </a:xfrm>
          <a:prstGeom prst="rect">
            <a:avLst/>
          </a:prstGeom>
          <a:noFill/>
        </p:spPr>
        <p:txBody>
          <a:bodyPr wrap="square" rtlCol="0">
            <a:spAutoFit/>
          </a:bodyPr>
          <a:lstStyle/>
          <a:p>
            <a:r>
              <a:rPr lang="en-IN" sz="3600" b="1" dirty="0"/>
              <a:t>How much can we donate?  </a:t>
            </a:r>
          </a:p>
          <a:p>
            <a:endParaRPr lang="en-IN" sz="3600" dirty="0"/>
          </a:p>
          <a:p>
            <a:r>
              <a:rPr lang="en-IN" sz="3600" dirty="0"/>
              <a:t>There is no minimum amount to be sponsored, we accept any amount </a:t>
            </a:r>
          </a:p>
          <a:p>
            <a:r>
              <a:rPr lang="en-IN" sz="3600" dirty="0"/>
              <a:t>only through online transfer to our Foundation trust account. </a:t>
            </a:r>
          </a:p>
          <a:p>
            <a:r>
              <a:rPr lang="en-IN" sz="3600" dirty="0"/>
              <a:t>Every drop counts and no amount is small.  </a:t>
            </a:r>
          </a:p>
          <a:p>
            <a:r>
              <a:rPr lang="en-IN" sz="3600" dirty="0"/>
              <a:t>Please remember one child’s educational fee for a year is less than our pizza cost in a weekend. </a:t>
            </a:r>
          </a:p>
          <a:p>
            <a:endParaRPr lang="en-IN" sz="9600" dirty="0"/>
          </a:p>
        </p:txBody>
      </p:sp>
    </p:spTree>
    <p:extLst>
      <p:ext uri="{BB962C8B-B14F-4D97-AF65-F5344CB8AC3E}">
        <p14:creationId xmlns:p14="http://schemas.microsoft.com/office/powerpoint/2010/main" val="953639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5707" y="3841448"/>
            <a:ext cx="7766936" cy="1646302"/>
          </a:xfrm>
        </p:spPr>
        <p:txBody>
          <a:bodyPr/>
          <a:lstStyle/>
          <a:p>
            <a:r>
              <a:rPr lang="en-IN" dirty="0"/>
              <a:t>Sri </a:t>
            </a:r>
            <a:r>
              <a:rPr lang="en-IN" dirty="0" err="1"/>
              <a:t>Sannidhi</a:t>
            </a:r>
            <a:r>
              <a:rPr lang="en-IN" dirty="0"/>
              <a:t> Foundation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62103" y="1449977"/>
            <a:ext cx="3492137" cy="2619103"/>
          </a:xfrm>
          <a:prstGeom prst="rect">
            <a:avLst/>
          </a:prstGeom>
          <a:ln>
            <a:solidFill>
              <a:schemeClr val="accent1"/>
            </a:solidFill>
          </a:ln>
        </p:spPr>
      </p:pic>
    </p:spTree>
    <p:extLst>
      <p:ext uri="{BB962C8B-B14F-4D97-AF65-F5344CB8AC3E}">
        <p14:creationId xmlns:p14="http://schemas.microsoft.com/office/powerpoint/2010/main" val="2248144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675249" y="705897"/>
            <a:ext cx="8454684" cy="10048905"/>
          </a:xfrm>
          <a:prstGeom prst="rect">
            <a:avLst/>
          </a:prstGeom>
          <a:noFill/>
        </p:spPr>
        <p:txBody>
          <a:bodyPr wrap="square" rtlCol="0">
            <a:spAutoFit/>
          </a:bodyPr>
          <a:lstStyle/>
          <a:p>
            <a:r>
              <a:rPr lang="en-IN" sz="4000" b="1" dirty="0"/>
              <a:t>How do I know, how and to whom my donation is used?</a:t>
            </a:r>
          </a:p>
          <a:p>
            <a:endParaRPr lang="en-IN" sz="4000" dirty="0"/>
          </a:p>
          <a:p>
            <a:r>
              <a:rPr lang="en-IN" sz="4000" dirty="0"/>
              <a:t>We are open to share the details of the student to whom your donation will be used and if you wish, you can contact the child through us and know the details of their studies etc.</a:t>
            </a:r>
          </a:p>
          <a:p>
            <a:endParaRPr lang="en-IN" sz="28700" dirty="0"/>
          </a:p>
        </p:txBody>
      </p:sp>
    </p:spTree>
    <p:extLst>
      <p:ext uri="{BB962C8B-B14F-4D97-AF65-F5344CB8AC3E}">
        <p14:creationId xmlns:p14="http://schemas.microsoft.com/office/powerpoint/2010/main" val="3528826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815926" y="297934"/>
            <a:ext cx="8454684" cy="15527328"/>
          </a:xfrm>
          <a:prstGeom prst="rect">
            <a:avLst/>
          </a:prstGeom>
          <a:noFill/>
        </p:spPr>
        <p:txBody>
          <a:bodyPr wrap="square" rtlCol="0">
            <a:spAutoFit/>
          </a:bodyPr>
          <a:lstStyle/>
          <a:p>
            <a:r>
              <a:rPr lang="en-IN" sz="3200" b="1" dirty="0"/>
              <a:t>Where do I donate and how?</a:t>
            </a:r>
          </a:p>
          <a:p>
            <a:endParaRPr lang="en-IN" sz="3200" dirty="0"/>
          </a:p>
          <a:p>
            <a:r>
              <a:rPr lang="en-IN" sz="3200" dirty="0"/>
              <a:t>Following are the bank details of our foundation: </a:t>
            </a:r>
          </a:p>
          <a:p>
            <a:r>
              <a:rPr lang="en-IN" sz="3200" dirty="0"/>
              <a:t>Name   </a:t>
            </a:r>
            <a:r>
              <a:rPr lang="en-IN" sz="3200" dirty="0" err="1"/>
              <a:t>SriSannidhiFoundation</a:t>
            </a:r>
            <a:endParaRPr lang="en-IN" sz="3200" dirty="0"/>
          </a:p>
          <a:p>
            <a:r>
              <a:rPr lang="en-IN" sz="3200" dirty="0"/>
              <a:t>Bank account number: 50200071786939</a:t>
            </a:r>
          </a:p>
          <a:p>
            <a:r>
              <a:rPr lang="en-IN" sz="3200" dirty="0"/>
              <a:t>IFSC Code      HDFC0000053</a:t>
            </a:r>
          </a:p>
          <a:p>
            <a:r>
              <a:rPr lang="en-IN" sz="3200" dirty="0"/>
              <a:t>Account type:   Current </a:t>
            </a:r>
          </a:p>
          <a:p>
            <a:endParaRPr lang="en-IN" sz="3200" dirty="0"/>
          </a:p>
          <a:p>
            <a:pPr algn="ctr"/>
            <a:r>
              <a:rPr lang="en-IN" sz="4000" b="1" dirty="0">
                <a:solidFill>
                  <a:srgbClr val="FF0000"/>
                </a:solidFill>
              </a:rPr>
              <a:t>NRI AND NRO ACCOUNTS PLEASE DONOT TRANSFER ANY AMOUNTS AS OF NOW </a:t>
            </a:r>
          </a:p>
          <a:p>
            <a:endParaRPr lang="en-IN" sz="59500" dirty="0">
              <a:solidFill>
                <a:srgbClr val="000099"/>
              </a:solidFill>
            </a:endParaRPr>
          </a:p>
        </p:txBody>
      </p:sp>
    </p:spTree>
    <p:extLst>
      <p:ext uri="{BB962C8B-B14F-4D97-AF65-F5344CB8AC3E}">
        <p14:creationId xmlns:p14="http://schemas.microsoft.com/office/powerpoint/2010/main" val="1391718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900332" y="677762"/>
            <a:ext cx="8454684" cy="5262979"/>
          </a:xfrm>
          <a:prstGeom prst="rect">
            <a:avLst/>
          </a:prstGeom>
          <a:noFill/>
        </p:spPr>
        <p:txBody>
          <a:bodyPr wrap="square" rtlCol="0">
            <a:spAutoFit/>
          </a:bodyPr>
          <a:lstStyle/>
          <a:p>
            <a:r>
              <a:rPr lang="en-IN" sz="2800" dirty="0"/>
              <a:t>Request you to please call us on </a:t>
            </a:r>
          </a:p>
          <a:p>
            <a:endParaRPr lang="en-IN" sz="2800" dirty="0"/>
          </a:p>
          <a:p>
            <a:r>
              <a:rPr lang="en-IN" sz="2800" dirty="0"/>
              <a:t>+91 9343475767 (</a:t>
            </a:r>
            <a:r>
              <a:rPr lang="en-IN" sz="2800" dirty="0" err="1"/>
              <a:t>sujana</a:t>
            </a:r>
            <a:r>
              <a:rPr lang="en-IN" sz="2800" dirty="0"/>
              <a:t>) </a:t>
            </a:r>
          </a:p>
          <a:p>
            <a:r>
              <a:rPr lang="en-IN" sz="2800" dirty="0"/>
              <a:t>for any clarifications before</a:t>
            </a:r>
          </a:p>
          <a:p>
            <a:r>
              <a:rPr lang="en-IN" sz="2800" dirty="0"/>
              <a:t> or after the donation.</a:t>
            </a:r>
          </a:p>
          <a:p>
            <a:r>
              <a:rPr lang="en-IN" sz="2800" dirty="0"/>
              <a:t> </a:t>
            </a:r>
          </a:p>
          <a:p>
            <a:r>
              <a:rPr lang="en-IN" sz="2800" dirty="0"/>
              <a:t>Every donation will be acknowledged by a receipt.</a:t>
            </a:r>
          </a:p>
          <a:p>
            <a:r>
              <a:rPr lang="en-IN" sz="2800" dirty="0"/>
              <a:t> </a:t>
            </a:r>
          </a:p>
          <a:p>
            <a:r>
              <a:rPr lang="en-IN" sz="2800" dirty="0"/>
              <a:t>Also kindly send us a mail to </a:t>
            </a:r>
            <a:r>
              <a:rPr lang="en-IN" sz="2800" u="sng" dirty="0">
                <a:hlinkClick r:id="rId3"/>
              </a:rPr>
              <a:t>srisannidhi7@gmail.com</a:t>
            </a:r>
            <a:r>
              <a:rPr lang="en-IN" sz="2800" u="sng" dirty="0"/>
              <a:t> </a:t>
            </a:r>
            <a:r>
              <a:rPr lang="en-IN" sz="2800" dirty="0"/>
              <a:t> </a:t>
            </a:r>
          </a:p>
          <a:p>
            <a:r>
              <a:rPr lang="en-IN" sz="2800" dirty="0"/>
              <a:t>if you wish to give us a donation or if you have transferred any amount to us. </a:t>
            </a:r>
            <a:endParaRPr lang="en-IN" sz="102800" dirty="0">
              <a:solidFill>
                <a:srgbClr val="000099"/>
              </a:solidFill>
            </a:endParaRPr>
          </a:p>
        </p:txBody>
      </p:sp>
    </p:spTree>
    <p:extLst>
      <p:ext uri="{BB962C8B-B14F-4D97-AF65-F5344CB8AC3E}">
        <p14:creationId xmlns:p14="http://schemas.microsoft.com/office/powerpoint/2010/main" val="580264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1127425" y="122088"/>
            <a:ext cx="8454684" cy="1569660"/>
          </a:xfrm>
          <a:prstGeom prst="rect">
            <a:avLst/>
          </a:prstGeom>
          <a:noFill/>
        </p:spPr>
        <p:txBody>
          <a:bodyPr wrap="square" rtlCol="0">
            <a:spAutoFit/>
          </a:bodyPr>
          <a:lstStyle/>
          <a:p>
            <a:r>
              <a:rPr lang="en-IN" sz="4800" dirty="0"/>
              <a:t>Sri </a:t>
            </a:r>
            <a:r>
              <a:rPr lang="en-IN" sz="4800" dirty="0" err="1"/>
              <a:t>Sanndihi</a:t>
            </a:r>
            <a:r>
              <a:rPr lang="en-IN" sz="4800" dirty="0"/>
              <a:t> Foundation Receipt copy : </a:t>
            </a:r>
            <a:endParaRPr lang="en-IN" sz="255800" dirty="0">
              <a:solidFill>
                <a:srgbClr val="000099"/>
              </a:solidFill>
            </a:endParaRPr>
          </a:p>
        </p:txBody>
      </p:sp>
      <p:pic>
        <p:nvPicPr>
          <p:cNvPr id="2" name="Picture 1"/>
          <p:cNvPicPr>
            <a:picLocks noChangeAspect="1"/>
          </p:cNvPicPr>
          <p:nvPr/>
        </p:nvPicPr>
        <p:blipFill>
          <a:blip r:embed="rId3"/>
          <a:stretch>
            <a:fillRect/>
          </a:stretch>
        </p:blipFill>
        <p:spPr>
          <a:xfrm>
            <a:off x="1011080" y="1813836"/>
            <a:ext cx="7224335" cy="4681581"/>
          </a:xfrm>
          <a:prstGeom prst="rect">
            <a:avLst/>
          </a:prstGeom>
        </p:spPr>
      </p:pic>
    </p:spTree>
    <p:extLst>
      <p:ext uri="{BB962C8B-B14F-4D97-AF65-F5344CB8AC3E}">
        <p14:creationId xmlns:p14="http://schemas.microsoft.com/office/powerpoint/2010/main" val="3352473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970671" y="579288"/>
            <a:ext cx="8454684" cy="3893374"/>
          </a:xfrm>
          <a:prstGeom prst="rect">
            <a:avLst/>
          </a:prstGeom>
          <a:noFill/>
        </p:spPr>
        <p:txBody>
          <a:bodyPr wrap="square" rtlCol="0">
            <a:spAutoFit/>
          </a:bodyPr>
          <a:lstStyle/>
          <a:p>
            <a:r>
              <a:rPr lang="en-IN" sz="4800" dirty="0"/>
              <a:t>Very important question</a:t>
            </a:r>
          </a:p>
          <a:p>
            <a:r>
              <a:rPr lang="en-IN" sz="7200" dirty="0"/>
              <a:t> 				</a:t>
            </a:r>
            <a:r>
              <a:rPr lang="en-IN" sz="19900" dirty="0"/>
              <a:t>?</a:t>
            </a:r>
            <a:endParaRPr lang="en-IN" sz="400000" dirty="0">
              <a:solidFill>
                <a:srgbClr val="000099"/>
              </a:solidFill>
            </a:endParaRPr>
          </a:p>
        </p:txBody>
      </p:sp>
      <p:sp>
        <p:nvSpPr>
          <p:cNvPr id="2" name="Rectangle 1"/>
          <p:cNvSpPr/>
          <p:nvPr/>
        </p:nvSpPr>
        <p:spPr>
          <a:xfrm>
            <a:off x="1160461" y="3817733"/>
            <a:ext cx="8981946" cy="2677656"/>
          </a:xfrm>
          <a:prstGeom prst="rect">
            <a:avLst/>
          </a:prstGeom>
        </p:spPr>
        <p:txBody>
          <a:bodyPr wrap="none">
            <a:spAutoFit/>
          </a:bodyPr>
          <a:lstStyle/>
          <a:p>
            <a:r>
              <a:rPr lang="en-IN" sz="2400" dirty="0"/>
              <a:t>How do you trust us - ? </a:t>
            </a:r>
          </a:p>
          <a:p>
            <a:r>
              <a:rPr lang="en-US" sz="2400" dirty="0"/>
              <a:t>We are open to share all information , about where your </a:t>
            </a:r>
          </a:p>
          <a:p>
            <a:r>
              <a:rPr lang="en-US" sz="2400" dirty="0"/>
              <a:t>funding is used along with the banking transactions proofs that </a:t>
            </a:r>
          </a:p>
          <a:p>
            <a:r>
              <a:rPr lang="en-US" sz="2400" dirty="0"/>
              <a:t>we have paid to the educational institutes / hospitals </a:t>
            </a:r>
            <a:r>
              <a:rPr lang="en-US" sz="2400" dirty="0" err="1"/>
              <a:t>etc</a:t>
            </a:r>
            <a:r>
              <a:rPr lang="en-US" sz="2400" dirty="0"/>
              <a:t> </a:t>
            </a:r>
          </a:p>
          <a:p>
            <a:endParaRPr lang="en-US" sz="2400" dirty="0"/>
          </a:p>
          <a:p>
            <a:r>
              <a:rPr lang="en-US" sz="2400" dirty="0"/>
              <a:t>You can be in touch with the child/family you have sponsored, </a:t>
            </a:r>
          </a:p>
          <a:p>
            <a:r>
              <a:rPr lang="en-US" sz="2400" dirty="0"/>
              <a:t>if you wish to do so  </a:t>
            </a:r>
            <a:endParaRPr lang="en-IN" sz="2400" dirty="0"/>
          </a:p>
        </p:txBody>
      </p:sp>
    </p:spTree>
    <p:extLst>
      <p:ext uri="{BB962C8B-B14F-4D97-AF65-F5344CB8AC3E}">
        <p14:creationId xmlns:p14="http://schemas.microsoft.com/office/powerpoint/2010/main" val="852645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1545437" y="2619103"/>
            <a:ext cx="8454684" cy="2308324"/>
          </a:xfrm>
          <a:prstGeom prst="rect">
            <a:avLst/>
          </a:prstGeom>
          <a:noFill/>
        </p:spPr>
        <p:txBody>
          <a:bodyPr wrap="square" rtlCol="0">
            <a:spAutoFit/>
          </a:bodyPr>
          <a:lstStyle/>
          <a:p>
            <a:r>
              <a:rPr lang="en-IN" sz="4800" dirty="0"/>
              <a:t>Some of the funding</a:t>
            </a:r>
          </a:p>
          <a:p>
            <a:r>
              <a:rPr lang="en-IN" sz="4800" dirty="0"/>
              <a:t> that activities we have </a:t>
            </a:r>
          </a:p>
          <a:p>
            <a:r>
              <a:rPr lang="en-IN" sz="4800" dirty="0"/>
              <a:t>done so far </a:t>
            </a:r>
            <a:endParaRPr lang="en-IN" sz="255800" dirty="0">
              <a:solidFill>
                <a:srgbClr val="000099"/>
              </a:solidFill>
            </a:endParaRPr>
          </a:p>
        </p:txBody>
      </p:sp>
    </p:spTree>
    <p:extLst>
      <p:ext uri="{BB962C8B-B14F-4D97-AF65-F5344CB8AC3E}">
        <p14:creationId xmlns:p14="http://schemas.microsoft.com/office/powerpoint/2010/main" val="2719411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9863" y="0"/>
            <a:ext cx="3492137" cy="2619103"/>
          </a:xfrm>
          <a:prstGeom prst="rect">
            <a:avLst/>
          </a:prstGeom>
          <a:ln>
            <a:solidFill>
              <a:schemeClr val="accent1"/>
            </a:solidFill>
          </a:ln>
        </p:spPr>
      </p:pic>
      <p:sp>
        <p:nvSpPr>
          <p:cNvPr id="5" name="TextBox 4"/>
          <p:cNvSpPr txBox="1"/>
          <p:nvPr/>
        </p:nvSpPr>
        <p:spPr>
          <a:xfrm>
            <a:off x="1062112" y="148214"/>
            <a:ext cx="8454684" cy="1569660"/>
          </a:xfrm>
          <a:prstGeom prst="rect">
            <a:avLst/>
          </a:prstGeom>
          <a:noFill/>
        </p:spPr>
        <p:txBody>
          <a:bodyPr wrap="square" rtlCol="0">
            <a:spAutoFit/>
          </a:bodyPr>
          <a:lstStyle/>
          <a:p>
            <a:r>
              <a:rPr lang="en-IN" sz="4800" dirty="0"/>
              <a:t>SMD Hindu Sec High </a:t>
            </a:r>
            <a:r>
              <a:rPr lang="en-IN" sz="4800" dirty="0" err="1"/>
              <a:t>school,chennai</a:t>
            </a:r>
            <a:endParaRPr lang="en-IN" sz="255800" dirty="0">
              <a:solidFill>
                <a:srgbClr val="000099"/>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2743" y="1866088"/>
            <a:ext cx="5242560" cy="3931920"/>
          </a:xfrm>
          <a:prstGeom prst="rect">
            <a:avLst/>
          </a:prstGeom>
        </p:spPr>
      </p:pic>
      <p:sp>
        <p:nvSpPr>
          <p:cNvPr id="6" name="TextBox 5"/>
          <p:cNvSpPr txBox="1"/>
          <p:nvPr/>
        </p:nvSpPr>
        <p:spPr>
          <a:xfrm>
            <a:off x="6682854" y="3047218"/>
            <a:ext cx="8454684" cy="3046988"/>
          </a:xfrm>
          <a:prstGeom prst="rect">
            <a:avLst/>
          </a:prstGeom>
          <a:noFill/>
        </p:spPr>
        <p:txBody>
          <a:bodyPr wrap="square" rtlCol="0">
            <a:spAutoFit/>
          </a:bodyPr>
          <a:lstStyle/>
          <a:p>
            <a:r>
              <a:rPr lang="en-IN" sz="3200" dirty="0"/>
              <a:t>We are sponsoring </a:t>
            </a:r>
          </a:p>
          <a:p>
            <a:r>
              <a:rPr lang="en-IN" sz="3200" dirty="0"/>
              <a:t>education of 10 girls for</a:t>
            </a:r>
          </a:p>
          <a:p>
            <a:r>
              <a:rPr lang="en-IN" sz="3200" dirty="0"/>
              <a:t> 11</a:t>
            </a:r>
            <a:r>
              <a:rPr lang="en-IN" sz="3200" baseline="30000" dirty="0"/>
              <a:t>th</a:t>
            </a:r>
            <a:r>
              <a:rPr lang="en-IN" sz="3200" dirty="0"/>
              <a:t> and 12</a:t>
            </a:r>
            <a:r>
              <a:rPr lang="en-IN" sz="3200" baseline="30000" dirty="0"/>
              <a:t>th</a:t>
            </a:r>
            <a:r>
              <a:rPr lang="en-IN" sz="3200" dirty="0"/>
              <a:t> grades , </a:t>
            </a:r>
          </a:p>
          <a:p>
            <a:r>
              <a:rPr lang="en-IN" sz="3200" dirty="0"/>
              <a:t>children of  coolies and </a:t>
            </a:r>
          </a:p>
          <a:p>
            <a:r>
              <a:rPr lang="en-IN" sz="3200" dirty="0"/>
              <a:t>daily wages labour on</a:t>
            </a:r>
          </a:p>
          <a:p>
            <a:r>
              <a:rPr lang="en-IN" sz="3200" dirty="0"/>
              <a:t> streets of Chennai .</a:t>
            </a:r>
            <a:endParaRPr lang="en-IN" sz="123400" dirty="0">
              <a:solidFill>
                <a:srgbClr val="000099"/>
              </a:solidFill>
            </a:endParaRPr>
          </a:p>
        </p:txBody>
      </p:sp>
    </p:spTree>
    <p:extLst>
      <p:ext uri="{BB962C8B-B14F-4D97-AF65-F5344CB8AC3E}">
        <p14:creationId xmlns:p14="http://schemas.microsoft.com/office/powerpoint/2010/main" val="1971982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09076" y="202003"/>
            <a:ext cx="10206523" cy="584775"/>
          </a:xfrm>
          <a:prstGeom prst="rect">
            <a:avLst/>
          </a:prstGeom>
          <a:noFill/>
        </p:spPr>
        <p:txBody>
          <a:bodyPr wrap="square" rtlCol="0">
            <a:spAutoFit/>
          </a:bodyPr>
          <a:lstStyle/>
          <a:p>
            <a:r>
              <a:rPr lang="en-IN" sz="3200" dirty="0"/>
              <a:t>BDS - R </a:t>
            </a:r>
            <a:r>
              <a:rPr lang="en-IN" sz="3200" dirty="0" err="1"/>
              <a:t>Aarti</a:t>
            </a:r>
            <a:r>
              <a:rPr lang="en-IN" sz="3200" dirty="0"/>
              <a:t> , Delhi </a:t>
            </a:r>
            <a:endParaRPr lang="en-IN" sz="123400" dirty="0">
              <a:solidFill>
                <a:srgbClr val="000099"/>
              </a:solidFill>
            </a:endParaRPr>
          </a:p>
        </p:txBody>
      </p:sp>
      <p:sp>
        <p:nvSpPr>
          <p:cNvPr id="12" name="Rectangle 11"/>
          <p:cNvSpPr/>
          <p:nvPr/>
        </p:nvSpPr>
        <p:spPr>
          <a:xfrm>
            <a:off x="3619377" y="1865595"/>
            <a:ext cx="6001871" cy="3063724"/>
          </a:xfrm>
          <a:prstGeom prst="rect">
            <a:avLst/>
          </a:prstGeom>
        </p:spPr>
        <p:txBody>
          <a:bodyPr wrap="square">
            <a:spAutoFit/>
          </a:bodyPr>
          <a:lstStyle/>
          <a:p>
            <a:pPr>
              <a:lnSpc>
                <a:spcPct val="107000"/>
              </a:lnSpc>
              <a:spcAft>
                <a:spcPts val="800"/>
              </a:spcAft>
            </a:pPr>
            <a:r>
              <a:rPr lang="en-IN" sz="2400" dirty="0" err="1">
                <a:latin typeface="Calibri" panose="020F0502020204030204" pitchFamily="34" charset="0"/>
                <a:ea typeface="Calibri" panose="020F0502020204030204" pitchFamily="34" charset="0"/>
                <a:cs typeface="Times New Roman" panose="02020603050405020304" pitchFamily="18" charset="0"/>
              </a:rPr>
              <a:t>Aarti</a:t>
            </a:r>
            <a:r>
              <a:rPr lang="en-IN" sz="2400" dirty="0">
                <a:latin typeface="Calibri" panose="020F0502020204030204" pitchFamily="34" charset="0"/>
                <a:ea typeface="Calibri" panose="020F0502020204030204" pitchFamily="34" charset="0"/>
                <a:cs typeface="Times New Roman" panose="02020603050405020304" pitchFamily="18" charset="0"/>
              </a:rPr>
              <a:t> , is a daughter of a tailor in Bengaluru, </a:t>
            </a:r>
          </a:p>
          <a:p>
            <a:pPr>
              <a:lnSpc>
                <a:spcPct val="107000"/>
              </a:lnSpc>
              <a:spcAft>
                <a:spcPts val="8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Lost father, mother with three daughters. </a:t>
            </a:r>
          </a:p>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We have taken up her educational expenses an amount of 10 lakhs for BDS ( dental sciences ) , Have already sponsored for first three years She aspires to be a dental doctor  and help her other two sisters financially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407" y="952649"/>
            <a:ext cx="2551599" cy="5670219"/>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21248" y="1"/>
            <a:ext cx="2529587" cy="1897190"/>
          </a:xfrm>
          <a:prstGeom prst="rect">
            <a:avLst/>
          </a:prstGeom>
          <a:ln>
            <a:solidFill>
              <a:schemeClr val="accent1"/>
            </a:solidFill>
          </a:ln>
        </p:spPr>
      </p:pic>
    </p:spTree>
    <p:extLst>
      <p:ext uri="{BB962C8B-B14F-4D97-AF65-F5344CB8AC3E}">
        <p14:creationId xmlns:p14="http://schemas.microsoft.com/office/powerpoint/2010/main" val="4176894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53435" y="1512897"/>
            <a:ext cx="2549058" cy="4531659"/>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215" y="1566581"/>
            <a:ext cx="3318220" cy="4424293"/>
          </a:xfrm>
          <a:prstGeom prst="rect">
            <a:avLst/>
          </a:prstGeom>
        </p:spPr>
      </p:pic>
      <p:sp>
        <p:nvSpPr>
          <p:cNvPr id="11" name="TextBox 10"/>
          <p:cNvSpPr txBox="1"/>
          <p:nvPr/>
        </p:nvSpPr>
        <p:spPr>
          <a:xfrm>
            <a:off x="309076" y="202003"/>
            <a:ext cx="10206523" cy="1077218"/>
          </a:xfrm>
          <a:prstGeom prst="rect">
            <a:avLst/>
          </a:prstGeom>
          <a:noFill/>
        </p:spPr>
        <p:txBody>
          <a:bodyPr wrap="square" rtlCol="0">
            <a:spAutoFit/>
          </a:bodyPr>
          <a:lstStyle/>
          <a:p>
            <a:r>
              <a:rPr lang="en-IN" sz="3200" dirty="0"/>
              <a:t>Two kids education sponsored- </a:t>
            </a:r>
            <a:r>
              <a:rPr lang="en-IN" sz="3200" dirty="0" err="1"/>
              <a:t>chitoor</a:t>
            </a:r>
            <a:r>
              <a:rPr lang="en-IN" sz="3200" dirty="0"/>
              <a:t> , </a:t>
            </a:r>
            <a:r>
              <a:rPr lang="en-IN" sz="3200" dirty="0" err="1"/>
              <a:t>Andhrapradesh</a:t>
            </a:r>
            <a:r>
              <a:rPr lang="en-IN" sz="3200" dirty="0"/>
              <a:t>  </a:t>
            </a:r>
            <a:endParaRPr lang="en-IN" sz="123400" dirty="0">
              <a:solidFill>
                <a:srgbClr val="000099"/>
              </a:solidFill>
            </a:endParaRPr>
          </a:p>
        </p:txBody>
      </p:sp>
      <p:sp>
        <p:nvSpPr>
          <p:cNvPr id="12" name="Rectangle 11"/>
          <p:cNvSpPr/>
          <p:nvPr/>
        </p:nvSpPr>
        <p:spPr>
          <a:xfrm>
            <a:off x="6620312" y="1917464"/>
            <a:ext cx="6001871" cy="4264437"/>
          </a:xfrm>
          <a:prstGeom prst="rect">
            <a:avLst/>
          </a:prstGeom>
        </p:spPr>
        <p:txBody>
          <a:bodyPr wrap="square">
            <a:spAutoFit/>
          </a:bodyPr>
          <a:lstStyle/>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We have taken up the educational fees of these kids , as they lost their father with kidney failure, the only bread winner of </a:t>
            </a:r>
          </a:p>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the family </a:t>
            </a:r>
          </a:p>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Complete academic year fee is </a:t>
            </a:r>
          </a:p>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paid through the foundation </a:t>
            </a:r>
          </a:p>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T. Sai Ganesh - 9th Grade – BV Reddy </a:t>
            </a:r>
          </a:p>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senior secondary school</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T. Sai Santosh -11th Grade -MPC, </a:t>
            </a:r>
            <a:r>
              <a:rPr lang="en-IN" sz="2400" dirty="0" err="1">
                <a:latin typeface="Calibri" panose="020F0502020204030204" pitchFamily="34" charset="0"/>
                <a:ea typeface="Calibri" panose="020F0502020204030204" pitchFamily="34" charset="0"/>
                <a:cs typeface="Times New Roman" panose="02020603050405020304" pitchFamily="18" charset="0"/>
              </a:rPr>
              <a:t>chitoor</a:t>
            </a:r>
            <a:r>
              <a:rPr lang="en-IN" sz="2400" dirty="0">
                <a:latin typeface="Calibri" panose="020F0502020204030204" pitchFamily="34"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21248" y="1"/>
            <a:ext cx="2529587" cy="1897190"/>
          </a:xfrm>
          <a:prstGeom prst="rect">
            <a:avLst/>
          </a:prstGeom>
          <a:ln>
            <a:solidFill>
              <a:schemeClr val="accent1"/>
            </a:solidFill>
          </a:ln>
        </p:spPr>
      </p:pic>
    </p:spTree>
    <p:extLst>
      <p:ext uri="{BB962C8B-B14F-4D97-AF65-F5344CB8AC3E}">
        <p14:creationId xmlns:p14="http://schemas.microsoft.com/office/powerpoint/2010/main" val="3615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6274" y="0"/>
            <a:ext cx="4445726" cy="68580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3250956" cy="6858000"/>
          </a:xfrm>
          <a:prstGeom prst="rect">
            <a:avLst/>
          </a:prstGeom>
        </p:spPr>
      </p:pic>
      <p:sp>
        <p:nvSpPr>
          <p:cNvPr id="6" name="Rectangle 5"/>
          <p:cNvSpPr/>
          <p:nvPr/>
        </p:nvSpPr>
        <p:spPr>
          <a:xfrm>
            <a:off x="3384245" y="232738"/>
            <a:ext cx="6001871" cy="7057188"/>
          </a:xfrm>
          <a:prstGeom prst="rect">
            <a:avLst/>
          </a:prstGeom>
        </p:spPr>
        <p:txBody>
          <a:bodyPr wrap="square">
            <a:spAutoFit/>
          </a:bodyPr>
          <a:lstStyle/>
          <a:p>
            <a:pPr>
              <a:lnSpc>
                <a:spcPct val="107000"/>
              </a:lnSpc>
              <a:spcAft>
                <a:spcPts val="8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dirty="0" err="1"/>
              <a:t>G.Balaji</a:t>
            </a:r>
            <a:r>
              <a:rPr lang="en-IN" dirty="0"/>
              <a:t> (9</a:t>
            </a:r>
            <a:r>
              <a:rPr lang="en-IN" baseline="30000" dirty="0"/>
              <a:t>th</a:t>
            </a:r>
            <a:r>
              <a:rPr lang="en-IN" dirty="0"/>
              <a:t> grade </a:t>
            </a:r>
          </a:p>
          <a:p>
            <a:pPr>
              <a:lnSpc>
                <a:spcPct val="107000"/>
              </a:lnSpc>
              <a:spcAft>
                <a:spcPts val="800"/>
              </a:spcAft>
            </a:pPr>
            <a:r>
              <a:rPr lang="en-IN" dirty="0" err="1"/>
              <a:t>G.Jeevan</a:t>
            </a:r>
            <a:r>
              <a:rPr lang="en-IN" dirty="0"/>
              <a:t> ( 5</a:t>
            </a:r>
            <a:r>
              <a:rPr lang="en-IN" baseline="30000" dirty="0"/>
              <a:t>th</a:t>
            </a:r>
            <a:r>
              <a:rPr lang="en-IN" dirty="0"/>
              <a:t> grade )</a:t>
            </a:r>
          </a:p>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Two sons of a security guard ,</a:t>
            </a:r>
          </a:p>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 </a:t>
            </a:r>
            <a:r>
              <a:rPr lang="en-IN" sz="2400" dirty="0" err="1">
                <a:latin typeface="Calibri" panose="020F0502020204030204" pitchFamily="34" charset="0"/>
                <a:ea typeface="Calibri" panose="020F0502020204030204" pitchFamily="34" charset="0"/>
                <a:cs typeface="Times New Roman" panose="02020603050405020304" pitchFamily="18" charset="0"/>
              </a:rPr>
              <a:t>Tirupati</a:t>
            </a:r>
            <a:r>
              <a:rPr lang="en-IN" sz="2400" dirty="0">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Educational expenses </a:t>
            </a:r>
            <a:br>
              <a:rPr lang="en-US" sz="2400" dirty="0">
                <a:latin typeface="Calibri" panose="020F0502020204030204" pitchFamily="34" charset="0"/>
                <a:ea typeface="Calibri" panose="020F0502020204030204" pitchFamily="34" charset="0"/>
                <a:cs typeface="Times New Roman" panose="02020603050405020304" pitchFamily="18" charset="0"/>
              </a:rPr>
            </a:br>
            <a:r>
              <a:rPr lang="en-US" sz="2400" dirty="0">
                <a:latin typeface="Calibri" panose="020F0502020204030204" pitchFamily="34" charset="0"/>
                <a:ea typeface="Calibri" panose="020F0502020204030204" pitchFamily="34" charset="0"/>
                <a:cs typeface="Times New Roman" panose="02020603050405020304" pitchFamily="18" charset="0"/>
              </a:rPr>
              <a:t>Being paid for the past</a:t>
            </a:r>
          </a:p>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 two years and will sponsor </a:t>
            </a:r>
          </a:p>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till they settle down in their lives</a:t>
            </a:r>
          </a:p>
          <a:p>
            <a:pPr>
              <a:lnSpc>
                <a:spcPct val="107000"/>
              </a:lnSpc>
              <a:spcAft>
                <a:spcPts val="8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The elder one aspires to become</a:t>
            </a:r>
          </a:p>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 an IIT  student, he is excellent </a:t>
            </a:r>
          </a:p>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in his studies … </a:t>
            </a:r>
          </a:p>
          <a:p>
            <a:pPr>
              <a:lnSpc>
                <a:spcPct val="107000"/>
              </a:lnSpc>
              <a:spcAft>
                <a:spcPts val="800"/>
              </a:spcAf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95778" y="1"/>
            <a:ext cx="1255057" cy="941293"/>
          </a:xfrm>
          <a:prstGeom prst="rect">
            <a:avLst/>
          </a:prstGeom>
          <a:ln>
            <a:solidFill>
              <a:schemeClr val="accent1"/>
            </a:solidFill>
          </a:ln>
        </p:spPr>
      </p:pic>
    </p:spTree>
    <p:extLst>
      <p:ext uri="{BB962C8B-B14F-4D97-AF65-F5344CB8AC3E}">
        <p14:creationId xmlns:p14="http://schemas.microsoft.com/office/powerpoint/2010/main" val="2694466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257" y="300445"/>
            <a:ext cx="5410593" cy="3041978"/>
          </a:xfrm>
          <a:prstGeom prst="rect">
            <a:avLst/>
          </a:prstGeom>
        </p:spPr>
      </p:pic>
      <p:sp>
        <p:nvSpPr>
          <p:cNvPr id="5" name="Rectangle 4"/>
          <p:cNvSpPr/>
          <p:nvPr/>
        </p:nvSpPr>
        <p:spPr>
          <a:xfrm>
            <a:off x="6190129" y="0"/>
            <a:ext cx="6001871" cy="2980047"/>
          </a:xfrm>
          <a:prstGeom prst="rect">
            <a:avLst/>
          </a:prstGeom>
        </p:spPr>
        <p:txBody>
          <a:bodyPr wrap="square">
            <a:spAutoFit/>
          </a:bodyPr>
          <a:lstStyle/>
          <a:p>
            <a:pPr>
              <a:lnSpc>
                <a:spcPct val="107000"/>
              </a:lnSpc>
              <a:spcAft>
                <a:spcPts val="8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err="1"/>
              <a:t>Jeevanadhara</a:t>
            </a:r>
            <a:r>
              <a:rPr lang="en-US" dirty="0"/>
              <a:t> - Bedsheets,</a:t>
            </a:r>
          </a:p>
          <a:p>
            <a:pPr>
              <a:lnSpc>
                <a:spcPct val="107000"/>
              </a:lnSpc>
              <a:spcAft>
                <a:spcPts val="800"/>
              </a:spcAft>
            </a:pPr>
            <a:r>
              <a:rPr lang="en-US" dirty="0"/>
              <a:t> Anna </a:t>
            </a:r>
            <a:r>
              <a:rPr lang="en-US" dirty="0" err="1"/>
              <a:t>danam</a:t>
            </a:r>
            <a:r>
              <a:rPr lang="en-US" dirty="0"/>
              <a:t> being sponsored </a:t>
            </a:r>
          </a:p>
          <a:p>
            <a:pPr>
              <a:lnSpc>
                <a:spcPct val="107000"/>
              </a:lnSpc>
              <a:spcAft>
                <a:spcPts val="800"/>
              </a:spcAft>
            </a:pPr>
            <a:r>
              <a:rPr lang="en-US" dirty="0"/>
              <a:t>for more than 80 + physically </a:t>
            </a:r>
          </a:p>
          <a:p>
            <a:pPr>
              <a:lnSpc>
                <a:spcPct val="107000"/>
              </a:lnSpc>
              <a:spcAft>
                <a:spcPts val="800"/>
              </a:spcAft>
            </a:pPr>
            <a:r>
              <a:rPr lang="en-US" dirty="0"/>
              <a:t>handicapped people at </a:t>
            </a:r>
            <a:r>
              <a:rPr lang="en-US" dirty="0" err="1"/>
              <a:t>Veluru</a:t>
            </a:r>
            <a:r>
              <a:rPr lang="en-US" dirty="0"/>
              <a:t>, </a:t>
            </a:r>
          </a:p>
          <a:p>
            <a:pPr>
              <a:lnSpc>
                <a:spcPct val="107000"/>
              </a:lnSpc>
              <a:spcAft>
                <a:spcPts val="800"/>
              </a:spcAft>
            </a:pPr>
            <a:r>
              <a:rPr lang="en-US" dirty="0" err="1"/>
              <a:t>Chittor</a:t>
            </a:r>
            <a:r>
              <a:rPr lang="en-US" dirty="0"/>
              <a:t> </a:t>
            </a:r>
            <a:r>
              <a:rPr lang="en-US" sz="2400" dirty="0">
                <a:latin typeface="Calibri" panose="020F0502020204030204" pitchFamily="34" charset="0"/>
                <a:ea typeface="Calibri" panose="020F0502020204030204" pitchFamily="34" charset="0"/>
                <a:cs typeface="Times New Roman" panose="02020603050405020304" pitchFamily="18" charset="0"/>
              </a:rPr>
              <a:t> , every year </a:t>
            </a:r>
          </a:p>
          <a:p>
            <a:pPr>
              <a:lnSpc>
                <a:spcPct val="107000"/>
              </a:lnSpc>
              <a:spcAft>
                <a:spcPts val="800"/>
              </a:spcAf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76902" y="2690007"/>
            <a:ext cx="3007179" cy="4009571"/>
          </a:xfrm>
          <a:prstGeom prst="rect">
            <a:avLst/>
          </a:prstGeom>
        </p:spPr>
      </p:pic>
      <p:sp>
        <p:nvSpPr>
          <p:cNvPr id="7" name="Rectangle 6"/>
          <p:cNvSpPr/>
          <p:nvPr/>
        </p:nvSpPr>
        <p:spPr>
          <a:xfrm>
            <a:off x="481644" y="4042121"/>
            <a:ext cx="6001871" cy="1878143"/>
          </a:xfrm>
          <a:prstGeom prst="rect">
            <a:avLst/>
          </a:prstGeom>
        </p:spPr>
        <p:txBody>
          <a:bodyPr wrap="square">
            <a:spAutoFit/>
          </a:bodyPr>
          <a:lstStyle/>
          <a:p>
            <a:pPr>
              <a:lnSpc>
                <a:spcPct val="107000"/>
              </a:lnSpc>
              <a:spcAft>
                <a:spcPts val="8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t>A ,7 month old baby, of Chennai, being sponsored for pelvic ureteric junction obstruction. Our foundation has sponsored for the surgery and baby is hale and healthy </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84081" y="1"/>
            <a:ext cx="2366754" cy="1775065"/>
          </a:xfrm>
          <a:prstGeom prst="rect">
            <a:avLst/>
          </a:prstGeom>
          <a:ln>
            <a:solidFill>
              <a:schemeClr val="accent1"/>
            </a:solidFill>
          </a:ln>
        </p:spPr>
      </p:pic>
    </p:spTree>
    <p:extLst>
      <p:ext uri="{BB962C8B-B14F-4D97-AF65-F5344CB8AC3E}">
        <p14:creationId xmlns:p14="http://schemas.microsoft.com/office/powerpoint/2010/main" val="1083040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24371" y="1134076"/>
            <a:ext cx="6001871" cy="4461862"/>
          </a:xfrm>
          <a:prstGeom prst="rect">
            <a:avLst/>
          </a:prstGeom>
        </p:spPr>
        <p:txBody>
          <a:bodyPr wrap="square">
            <a:spAutoFit/>
          </a:bodyPr>
          <a:lstStyle/>
          <a:p>
            <a:pPr>
              <a:lnSpc>
                <a:spcPct val="107000"/>
              </a:lnSpc>
              <a:spcAft>
                <a:spcPts val="8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t>Plastic surgery expenses : </a:t>
            </a:r>
          </a:p>
          <a:p>
            <a:pPr>
              <a:lnSpc>
                <a:spcPct val="107000"/>
              </a:lnSpc>
              <a:spcAft>
                <a:spcPts val="800"/>
              </a:spcAft>
            </a:pPr>
            <a:endParaRPr lang="en-US" dirty="0"/>
          </a:p>
          <a:p>
            <a:pPr>
              <a:lnSpc>
                <a:spcPct val="107000"/>
              </a:lnSpc>
              <a:spcAft>
                <a:spcPts val="800"/>
              </a:spcAft>
            </a:pPr>
            <a:r>
              <a:rPr lang="en-US" dirty="0"/>
              <a:t>We have collected 3.38 lakhs for plastic surgery of a priest son , in  Bangalore . The entire amount is sponsored from the residents of </a:t>
            </a:r>
            <a:r>
              <a:rPr lang="en-US" dirty="0" err="1"/>
              <a:t>Gopalan</a:t>
            </a:r>
            <a:r>
              <a:rPr lang="en-US" dirty="0"/>
              <a:t> Grandeur , White field , Bangalore . </a:t>
            </a:r>
          </a:p>
          <a:p>
            <a:pPr>
              <a:lnSpc>
                <a:spcPct val="107000"/>
              </a:lnSpc>
              <a:spcAft>
                <a:spcPts val="800"/>
              </a:spcAft>
            </a:pPr>
            <a:br>
              <a:rPr lang="en-US" dirty="0"/>
            </a:br>
            <a:r>
              <a:rPr lang="en-US" dirty="0"/>
              <a:t>We have paid amount for the surgery, directly to the hospital in Bengaluru </a:t>
            </a:r>
          </a:p>
          <a:p>
            <a:pPr>
              <a:lnSpc>
                <a:spcPct val="107000"/>
              </a:lnSpc>
              <a:spcAft>
                <a:spcPts val="8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6242" y="2431375"/>
            <a:ext cx="2889613" cy="3852817"/>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84081" y="1"/>
            <a:ext cx="2366754" cy="1775065"/>
          </a:xfrm>
          <a:prstGeom prst="rect">
            <a:avLst/>
          </a:prstGeom>
          <a:ln>
            <a:solidFill>
              <a:schemeClr val="accent1"/>
            </a:solidFill>
          </a:ln>
        </p:spPr>
      </p:pic>
    </p:spTree>
    <p:extLst>
      <p:ext uri="{BB962C8B-B14F-4D97-AF65-F5344CB8AC3E}">
        <p14:creationId xmlns:p14="http://schemas.microsoft.com/office/powerpoint/2010/main" val="316902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98690" y="585435"/>
            <a:ext cx="9939870" cy="1868845"/>
          </a:xfrm>
          <a:prstGeom prst="rect">
            <a:avLst/>
          </a:prstGeom>
        </p:spPr>
        <p:txBody>
          <a:bodyPr wrap="square">
            <a:spAutoFit/>
          </a:bodyPr>
          <a:lstStyle/>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These are only some of the funding activities,</a:t>
            </a:r>
          </a:p>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 we have shared with you, if you wish to know more …. </a:t>
            </a:r>
          </a:p>
          <a:p>
            <a:pPr>
              <a:lnSpc>
                <a:spcPct val="107000"/>
              </a:lnSpc>
              <a:spcAft>
                <a:spcPts val="800"/>
              </a:spcAft>
            </a:pPr>
            <a:r>
              <a:rPr lang="en-US" sz="2400" dirty="0">
                <a:latin typeface="Calibri" panose="020F0502020204030204" pitchFamily="34" charset="0"/>
                <a:ea typeface="Calibri" panose="020F0502020204030204" pitchFamily="34" charset="0"/>
                <a:cs typeface="Times New Roman" panose="02020603050405020304" pitchFamily="18" charset="0"/>
              </a:rPr>
              <a:t>We will be happy to share with you …</a:t>
            </a:r>
          </a:p>
          <a:p>
            <a:pPr>
              <a:lnSpc>
                <a:spcPct val="107000"/>
              </a:lnSpc>
              <a:spcAft>
                <a:spcPts val="800"/>
              </a:spcAf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8690" y="2279877"/>
            <a:ext cx="5572941" cy="4179706"/>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84081" y="1"/>
            <a:ext cx="2366754" cy="1775065"/>
          </a:xfrm>
          <a:prstGeom prst="rect">
            <a:avLst/>
          </a:prstGeom>
          <a:ln>
            <a:solidFill>
              <a:schemeClr val="accent1"/>
            </a:solidFill>
          </a:ln>
        </p:spPr>
      </p:pic>
      <p:sp>
        <p:nvSpPr>
          <p:cNvPr id="3" name="Rectangle 2"/>
          <p:cNvSpPr/>
          <p:nvPr/>
        </p:nvSpPr>
        <p:spPr>
          <a:xfrm>
            <a:off x="6159575" y="3317725"/>
            <a:ext cx="4128951" cy="830997"/>
          </a:xfrm>
          <a:prstGeom prst="rect">
            <a:avLst/>
          </a:prstGeom>
        </p:spPr>
        <p:txBody>
          <a:bodyPr wrap="none">
            <a:spAutoFit/>
          </a:bodyPr>
          <a:lstStyle/>
          <a:p>
            <a:r>
              <a:rPr lang="en-US" sz="4800" b="1" dirty="0">
                <a:solidFill>
                  <a:schemeClr val="accent1">
                    <a:lumMod val="75000"/>
                  </a:schemeClr>
                </a:solidFill>
                <a:latin typeface="Calibri" panose="020F0502020204030204" pitchFamily="34" charset="0"/>
                <a:ea typeface="Calibri" panose="020F0502020204030204" pitchFamily="34" charset="0"/>
                <a:cs typeface="Times New Roman" panose="02020603050405020304" pitchFamily="18" charset="0"/>
              </a:rPr>
              <a:t>THANK YOU !!! </a:t>
            </a:r>
            <a:endParaRPr lang="en-IN" sz="4800" b="1" dirty="0">
              <a:solidFill>
                <a:schemeClr val="accent1">
                  <a:lumMod val="75000"/>
                </a:schemeClr>
              </a:solidFill>
            </a:endParaRPr>
          </a:p>
        </p:txBody>
      </p:sp>
    </p:spTree>
    <p:extLst>
      <p:ext uri="{BB962C8B-B14F-4D97-AF65-F5344CB8AC3E}">
        <p14:creationId xmlns:p14="http://schemas.microsoft.com/office/powerpoint/2010/main" val="153044102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239</TotalTime>
  <Words>989</Words>
  <Application>Microsoft Office PowerPoint</Application>
  <PresentationFormat>Widescreen</PresentationFormat>
  <Paragraphs>126</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Sri Sannidhi Foundation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Namuduri, Amogh Krishna</cp:lastModifiedBy>
  <cp:revision>14</cp:revision>
  <dcterms:created xsi:type="dcterms:W3CDTF">2023-03-19T14:42:19Z</dcterms:created>
  <dcterms:modified xsi:type="dcterms:W3CDTF">2025-11-27T04:09:32Z</dcterms:modified>
</cp:coreProperties>
</file>